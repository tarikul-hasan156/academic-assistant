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Inter Light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Urbanist SemiBold"/>
      <p:regular r:id="rId31"/>
      <p:bold r:id="rId32"/>
      <p:italic r:id="rId33"/>
      <p:boldItalic r:id="rId34"/>
    </p:embeddedFont>
    <p:embeddedFont>
      <p:font typeface="Urbanis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InterLight-bold.fntdata"/><Relationship Id="rId23" Type="http://schemas.openxmlformats.org/officeDocument/2006/relationships/font" Target="fonts/Inter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Light-boldItalic.fntdata"/><Relationship Id="rId25" Type="http://schemas.openxmlformats.org/officeDocument/2006/relationships/font" Target="fonts/InterLight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SemiBold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UrbanistSemiBold-italic.fntdata"/><Relationship Id="rId10" Type="http://schemas.openxmlformats.org/officeDocument/2006/relationships/slide" Target="slides/slide5.xml"/><Relationship Id="rId32" Type="http://schemas.openxmlformats.org/officeDocument/2006/relationships/font" Target="fonts/UrbanistSemiBold-bold.fntdata"/><Relationship Id="rId13" Type="http://schemas.openxmlformats.org/officeDocument/2006/relationships/slide" Target="slides/slide8.xml"/><Relationship Id="rId35" Type="http://schemas.openxmlformats.org/officeDocument/2006/relationships/font" Target="fonts/Urbanist-regular.fntdata"/><Relationship Id="rId12" Type="http://schemas.openxmlformats.org/officeDocument/2006/relationships/slide" Target="slides/slide7.xml"/><Relationship Id="rId34" Type="http://schemas.openxmlformats.org/officeDocument/2006/relationships/font" Target="fonts/Urbanist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Urbanist-italic.fntdata"/><Relationship Id="rId14" Type="http://schemas.openxmlformats.org/officeDocument/2006/relationships/slide" Target="slides/slide9.xml"/><Relationship Id="rId36" Type="http://schemas.openxmlformats.org/officeDocument/2006/relationships/font" Target="fonts/Urbanis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Urbanis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cfb706d0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bcfb706d0d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cfb706d0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bcfb706d0d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cfb706d0d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bcfb706d0d_1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cfb706d0d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bcfb706d0d_1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cfb706d0d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bcfb706d0d_1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cfb706d0d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bcfb706d0d_1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cfb706d0d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bcfb706d0d_1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Relationship Id="rId4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jpg"/><Relationship Id="rId4" Type="http://schemas.openxmlformats.org/officeDocument/2006/relationships/image" Target="../media/image23.jpg"/><Relationship Id="rId5" Type="http://schemas.openxmlformats.org/officeDocument/2006/relationships/image" Target="../media/image20.jpg"/><Relationship Id="rId6" Type="http://schemas.openxmlformats.org/officeDocument/2006/relationships/image" Target="../media/image25.jpg"/><Relationship Id="rId7" Type="http://schemas.openxmlformats.org/officeDocument/2006/relationships/image" Target="../media/image2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440814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259359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Academic </a:t>
            </a: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Assistant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288059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A Modern Web-Based Platform for BUBT Students &amp; Faculty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9650" y="989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58750" y="1724375"/>
            <a:ext cx="1107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87700" y="1077875"/>
            <a:ext cx="501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42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Team information</a:t>
            </a:r>
            <a:r>
              <a:rPr b="1" lang="en-US" sz="42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 :</a:t>
            </a:r>
            <a:endParaRPr sz="100"/>
          </a:p>
        </p:txBody>
      </p:sp>
      <p:sp>
        <p:nvSpPr>
          <p:cNvPr id="95" name="Google Shape;95;p14"/>
          <p:cNvSpPr txBox="1"/>
          <p:nvPr/>
        </p:nvSpPr>
        <p:spPr>
          <a:xfrm>
            <a:off x="1435400" y="3987200"/>
            <a:ext cx="25119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87700" y="1806700"/>
            <a:ext cx="55722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Omar Faruk Jihad              ID:20234103145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Rajdip Raha                        ID:20234103146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Riad Ahamed Sarkar         ID:20234103148</a:t>
            </a:r>
            <a:b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200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Md. Nur Alam                    ID:20234103153</a:t>
            </a:r>
            <a:b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200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Md. Tarikul Hasan Dipu    ID:20234103156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014075" y="4536825"/>
            <a:ext cx="7083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Nasrin Akter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Lecturer,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CSE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BUBT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768225" y="3790463"/>
            <a:ext cx="501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Submitted To</a:t>
            </a:r>
            <a:r>
              <a:rPr b="1" lang="en-US" sz="42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42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 :</a:t>
            </a:r>
            <a:endParaRPr sz="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81050" y="90045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PRESENTATION OUTLINE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901275"/>
            <a:ext cx="47700" cy="552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2939653"/>
            <a:ext cx="4762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Abstract: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Vision and scope of the project.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3417689"/>
            <a:ext cx="4762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Motivation: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Why we built this system.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3895725"/>
            <a:ext cx="4762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Features: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Core tools for students &amp; faculty.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4373752"/>
            <a:ext cx="4762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Use Case Diagram:</a:t>
            </a:r>
            <a:r>
              <a:rPr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Interaction and logic flow.</a:t>
            </a:r>
            <a:endParaRPr sz="1600"/>
          </a:p>
        </p:txBody>
      </p:sp>
      <p:sp>
        <p:nvSpPr>
          <p:cNvPr id="110" name="Google Shape;110;p15"/>
          <p:cNvSpPr txBox="1"/>
          <p:nvPr/>
        </p:nvSpPr>
        <p:spPr>
          <a:xfrm>
            <a:off x="6858000" y="2939653"/>
            <a:ext cx="4762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Class Diagram:</a:t>
            </a:r>
            <a:r>
              <a:rPr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Structural system design.</a:t>
            </a:r>
            <a:endParaRPr sz="1700"/>
          </a:p>
        </p:txBody>
      </p:sp>
      <p:sp>
        <p:nvSpPr>
          <p:cNvPr id="111" name="Google Shape;111;p15"/>
          <p:cNvSpPr txBox="1"/>
          <p:nvPr/>
        </p:nvSpPr>
        <p:spPr>
          <a:xfrm>
            <a:off x="6858000" y="3417689"/>
            <a:ext cx="4762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CRC Cards:</a:t>
            </a:r>
            <a:r>
              <a:rPr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Responsibility mapping.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858000" y="3895725"/>
            <a:ext cx="4762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Conclusion: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Current outcomes.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858000" y="4373760"/>
            <a:ext cx="4762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Future Work: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Future expansion plans.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2939653"/>
            <a:ext cx="209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3417689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895725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4373760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477000" y="2939653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77000" y="3417689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477000" y="3895725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477000" y="4373760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6150" y="-56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4875" y="3042344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ABSTRACT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1891307"/>
            <a:ext cx="5238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Academic Assistant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is a centralized web platform designed to make academic tasks easier for the BUBT community.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52500" y="3182540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Built with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Django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(Python) and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MySQL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3660576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Automates room scheduling and routine management.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52500" y="4473773"/>
            <a:ext cx="4857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Provides real-time updates for </a:t>
            </a:r>
            <a:r>
              <a:rPr lang="en-US" sz="16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Academic </a:t>
            </a:r>
            <a:r>
              <a:rPr lang="en-US" sz="16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Assessments</a:t>
            </a:r>
            <a:r>
              <a:rPr lang="en-US" sz="16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52500" y="5286970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Simplifies communication between students and faculty.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534275" y="4204394"/>
            <a:ext cx="29337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Modern Web Implementation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3182540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3660576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4473773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5286970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pic>
        <p:nvPicPr>
          <p:cNvPr id="140" name="Google Shape;140;p16" title="8ca113e6-accd-4809-9bb3-88af207c7418.jpg"/>
          <p:cNvPicPr preferRelativeResize="0"/>
          <p:nvPr/>
        </p:nvPicPr>
        <p:blipFill rotWithShape="1">
          <a:blip r:embed="rId5">
            <a:alphaModFix/>
          </a:blip>
          <a:srcRect b="0" l="1090" r="9495" t="10538"/>
          <a:stretch/>
        </p:blipFill>
        <p:spPr>
          <a:xfrm>
            <a:off x="5810400" y="1681888"/>
            <a:ext cx="5855700" cy="36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8925"/>
            <a:ext cx="12192000" cy="6519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50523"/>
            <a:ext cx="3492400" cy="248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950523"/>
            <a:ext cx="3492550" cy="248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950523"/>
            <a:ext cx="3492400" cy="248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90500" y="920375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MOTIVATION: WHY THIS PROJECT?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921125"/>
            <a:ext cx="47700" cy="552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914400" y="3351907"/>
            <a:ext cx="2946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Manual Scheduling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14400" y="3828157"/>
            <a:ext cx="2806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Current systems lack dynamic routines, making it hard to manage extra classes or makeup sessions manually.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92550" y="3351907"/>
            <a:ext cx="29470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Room Conflicts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692550" y="3828157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Finding an empty classroom is often difficult. Our system tracks room availability in real-time.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470850" y="3351907"/>
            <a:ext cx="29469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Communication Gaps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470850" y="3828157"/>
            <a:ext cx="2806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Students often miss notice about CT dates or assignments. We provide a centralized update board.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1782"/>
            <a:ext cx="3492400" cy="3087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51782"/>
            <a:ext cx="3492549" cy="3087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51782"/>
            <a:ext cx="3492400" cy="3087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73278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2550" y="273278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0850" y="27327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32100" y="940325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FEATURES OVERVIEW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23875" y="941150"/>
            <a:ext cx="47700" cy="552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914400" y="3351907"/>
            <a:ext cx="29469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Secure Login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14400" y="3828157"/>
            <a:ext cx="2806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Role-based access for Students, Faculty, and Admins to ensure data privacy and security.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692550" y="3351907"/>
            <a:ext cx="29470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Smart Scheduling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4692550" y="3828157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View routines based on Intake/Section. Faculty can check for free rooms instantly.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470850" y="3351907"/>
            <a:ext cx="29469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Notice Updates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470850" y="3828157"/>
            <a:ext cx="2806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Faculty can post CT dates, assignment deadlines, and course news directly to student dashboards.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10544175" y="5638800"/>
            <a:ext cx="866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Diagram 1.0</a:t>
            </a:r>
            <a:endParaRPr/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77275" y="2998440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USE CASE DIAGRAM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2466379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Actor Roles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52500" y="2875954"/>
            <a:ext cx="4857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Student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52500" y="3689151"/>
            <a:ext cx="4857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Faculty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52500" y="4502348"/>
            <a:ext cx="4857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Admin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486650" y="3950940"/>
            <a:ext cx="302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[Use Case Diagram Content]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486650" y="4446240"/>
            <a:ext cx="3028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Logic flow between Faculty, Student, and Admin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2875954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71500" y="3689151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571500" y="4502348"/>
            <a:ext cx="209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50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pic>
        <p:nvPicPr>
          <p:cNvPr id="194" name="Google Shape;194;p19" title="Screenshot 2025-09-08 0319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8775" y="1123959"/>
            <a:ext cx="4857750" cy="506819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470250" y="5200200"/>
            <a:ext cx="3000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b="1" lang="en-US" sz="16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 Relationships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10325100" y="56388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MVT Structure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8712" y="2998440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CLASS DIAGRAM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2466379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Structural Models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952500" y="2875954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User Class: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Base class for authentication and role management.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52500" y="3689151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Routine Class: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Connects Courses, Faculty, and Time slots.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52500" y="4502348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Room Class: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Manages Building numbers and room status (Busy/Free).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7310437" y="3950940"/>
            <a:ext cx="3381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[Class Diagram Content]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310437" y="4446240"/>
            <a:ext cx="33813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Relationship between User, Routine, and Room models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571500" y="2875954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571500" y="3689151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71500" y="4502348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pic>
        <p:nvPicPr>
          <p:cNvPr id="214" name="Google Shape;214;p20" title="SAD_lab_10_156.drawio_page-000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1575" y="1753700"/>
            <a:ext cx="3839376" cy="45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CRC CARDS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571500" y="571500"/>
            <a:ext cx="47700" cy="552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1" title="Screenshot 2026-02-05 0121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0" y="1812475"/>
            <a:ext cx="4444624" cy="42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762000" y="2841150"/>
            <a:ext cx="41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lang="en-US" sz="16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Responsibility Mapping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762000" y="3533013"/>
            <a:ext cx="3000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lang="en-US" sz="16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Collaboration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4385"/>
            <a:ext cx="5238750" cy="33426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24385"/>
            <a:ext cx="5238750" cy="334267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IMPLEMENTATION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800626" y="2569535"/>
            <a:ext cx="4780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Tools &amp; Stack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610876" y="2569523"/>
            <a:ext cx="4780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Methodology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1295400" y="3110210"/>
            <a:ext cx="4171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Language: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Python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295400" y="3588246"/>
            <a:ext cx="417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Framework: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Django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1295400" y="4066282"/>
            <a:ext cx="4171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Database: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MySQL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295400" y="4544317"/>
            <a:ext cx="4171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UI/UX: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Bootstrap &amp; Tailwind CSS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105650" y="3110210"/>
            <a:ext cx="4171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Agile Process: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Small sprints for each module.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105650" y="3923407"/>
            <a:ext cx="4171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MVT Pattern: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Model-View-Template flow.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105650" y="4401442"/>
            <a:ext cx="4171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Relational DB: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Efficient storage of schedules.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914400" y="3110210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914400" y="3588246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914400" y="4066282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914400" y="4544317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724650" y="3110210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724650" y="3923407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724650" y="4401442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CONCLUSION &amp; FUTURE WORK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571500" y="320322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571500" y="3593752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We successfully built a reliable system that simplifies academic communication and room management for BUBT. It reduces manual work for both teachers and students.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381750" y="2730103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Future Enhancements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762750" y="3120628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Real-time Email/SMS notifications.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6762750" y="3598664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Full mobile application development.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762750" y="4076700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Integrated NLP search capabilities.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6762750" y="4554735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Student participation analytics.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6381750" y="3120628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381750" y="3598664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381750" y="4076700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381750" y="4554735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/>
          <p:nvPr/>
        </p:nvSpPr>
        <p:spPr>
          <a:xfrm>
            <a:off x="790500" y="342250"/>
            <a:ext cx="11401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 few Glimpses of our project</a:t>
            </a:r>
            <a:endParaRPr sz="1300"/>
          </a:p>
        </p:txBody>
      </p:sp>
      <p:sp>
        <p:nvSpPr>
          <p:cNvPr id="272" name="Google Shape;272;p24"/>
          <p:cNvSpPr/>
          <p:nvPr/>
        </p:nvSpPr>
        <p:spPr>
          <a:xfrm flipH="1">
            <a:off x="559325" y="342250"/>
            <a:ext cx="28800" cy="53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24" title="Screenshot 2026-02-05 0143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925" y="1141225"/>
            <a:ext cx="4581106" cy="567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4" title="Screenshot 2026-02-05 0143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8131" y="1141225"/>
            <a:ext cx="3541914" cy="567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 txBox="1"/>
          <p:nvPr/>
        </p:nvSpPr>
        <p:spPr>
          <a:xfrm>
            <a:off x="790500" y="342250"/>
            <a:ext cx="11401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 few Glimpses of our project</a:t>
            </a:r>
            <a:endParaRPr sz="1300"/>
          </a:p>
        </p:txBody>
      </p:sp>
      <p:sp>
        <p:nvSpPr>
          <p:cNvPr id="280" name="Google Shape;280;p25"/>
          <p:cNvSpPr/>
          <p:nvPr/>
        </p:nvSpPr>
        <p:spPr>
          <a:xfrm flipH="1">
            <a:off x="559325" y="342250"/>
            <a:ext cx="28800" cy="53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5" title="1f1f4fc3-ebf9-4afa-8c7a-7b6afcaef41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550" y="1033450"/>
            <a:ext cx="3630176" cy="567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5" title="e27852dc-46e3-4763-a833-500e7bc6531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6326" y="1033450"/>
            <a:ext cx="3610354" cy="567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"/>
          <p:cNvSpPr txBox="1"/>
          <p:nvPr/>
        </p:nvSpPr>
        <p:spPr>
          <a:xfrm>
            <a:off x="790500" y="342250"/>
            <a:ext cx="11401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 few Glimpses of our project</a:t>
            </a:r>
            <a:endParaRPr sz="1300"/>
          </a:p>
        </p:txBody>
      </p:sp>
      <p:sp>
        <p:nvSpPr>
          <p:cNvPr id="288" name="Google Shape;288;p26"/>
          <p:cNvSpPr/>
          <p:nvPr/>
        </p:nvSpPr>
        <p:spPr>
          <a:xfrm flipH="1">
            <a:off x="559325" y="342250"/>
            <a:ext cx="28800" cy="53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00" y="2150300"/>
            <a:ext cx="5569125" cy="420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2700" y="2150300"/>
            <a:ext cx="6155877" cy="42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/>
          <p:nvPr/>
        </p:nvSpPr>
        <p:spPr>
          <a:xfrm>
            <a:off x="790500" y="342250"/>
            <a:ext cx="11401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 few Glimpses of our project</a:t>
            </a:r>
            <a:endParaRPr sz="1300"/>
          </a:p>
        </p:txBody>
      </p:sp>
      <p:sp>
        <p:nvSpPr>
          <p:cNvPr id="296" name="Google Shape;296;p27"/>
          <p:cNvSpPr/>
          <p:nvPr/>
        </p:nvSpPr>
        <p:spPr>
          <a:xfrm flipH="1">
            <a:off x="559325" y="342250"/>
            <a:ext cx="28800" cy="53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825" y="1724475"/>
            <a:ext cx="5211776" cy="44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4900" y="1724475"/>
            <a:ext cx="5368825" cy="445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/>
          <p:nvPr/>
        </p:nvSpPr>
        <p:spPr>
          <a:xfrm>
            <a:off x="790500" y="342250"/>
            <a:ext cx="11401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 few Glimpses of our project</a:t>
            </a:r>
            <a:endParaRPr sz="1300"/>
          </a:p>
        </p:txBody>
      </p:sp>
      <p:sp>
        <p:nvSpPr>
          <p:cNvPr id="304" name="Google Shape;304;p28"/>
          <p:cNvSpPr/>
          <p:nvPr/>
        </p:nvSpPr>
        <p:spPr>
          <a:xfrm flipH="1">
            <a:off x="559325" y="342250"/>
            <a:ext cx="28800" cy="53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28" title="9de788cb-6b2c-467b-a6cc-851e9f90283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3450"/>
            <a:ext cx="73342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8" title="14be05c6-d02f-4b27-9cc0-5ba6bd169027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938700"/>
            <a:ext cx="4064400" cy="17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8" title="73b011da-b919-4566-aa63-6764fd220bb8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9200" y="4938700"/>
            <a:ext cx="4019038" cy="17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8" title="078a7e93-7e79-4e10-ba50-f9b1ada21ad9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9050" y="1033450"/>
            <a:ext cx="4400549" cy="193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8" title="f215415b-ebd3-44fa-b759-4613678335e6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40637" y="3119849"/>
            <a:ext cx="3498963" cy="2774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9"/>
          <p:cNvSpPr txBox="1"/>
          <p:nvPr/>
        </p:nvSpPr>
        <p:spPr>
          <a:xfrm>
            <a:off x="295275" y="1940272"/>
            <a:ext cx="116014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571500" y="3692872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Inter Light"/>
                <a:ea typeface="Inter Light"/>
                <a:cs typeface="Inter Light"/>
                <a:sym typeface="Inter Light"/>
              </a:rPr>
              <a:t>Any Questions about the Project?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